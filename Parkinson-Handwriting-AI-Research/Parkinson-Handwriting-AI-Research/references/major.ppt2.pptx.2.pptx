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sldIdLst>
    <p:sldId id="256" r:id="rId3"/>
    <p:sldId id="263" r:id="rId4"/>
    <p:sldId id="257" r:id="rId5"/>
    <p:sldId id="260" r:id="rId6"/>
    <p:sldId id="259" r:id="rId7"/>
    <p:sldId id="261" r:id="rId8"/>
    <p:sldId id="270" r:id="rId9"/>
    <p:sldId id="271" r:id="rId10"/>
    <p:sldId id="267" r:id="rId11"/>
    <p:sldId id="268" r:id="rId12"/>
    <p:sldId id="264" r:id="rId13"/>
    <p:sldId id="265" r:id="rId14"/>
    <p:sldId id="266" r:id="rId15"/>
    <p:sldId id="262" r:id="rId16"/>
    <p:sldId id="269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0E5F0-6339-45D1-A476-EED24CCB2EFE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873D9-F96A-425C-8CB6-A9DF769EDEB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indoor, map, table, window&#10;&#10;Description automatically generated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403336"/>
            <a:ext cx="9144000" cy="1738138"/>
          </a:xfrm>
        </p:spPr>
        <p:txBody>
          <a:bodyPr anchor="b"/>
          <a:lstStyle>
            <a:lvl1pPr algn="ctr">
              <a:defRPr sz="5400">
                <a:solidFill>
                  <a:srgbClr val="0070C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276726"/>
            <a:ext cx="9144000" cy="1030288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7030A0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  <a:endParaRPr lang="en-IN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047939" y="4337953"/>
            <a:ext cx="6620061" cy="404746"/>
          </a:xfrm>
        </p:spPr>
        <p:txBody>
          <a:bodyPr anchor="ctr">
            <a:noAutofit/>
          </a:bodyPr>
          <a:lstStyle>
            <a:lvl1pPr marL="0" indent="0" algn="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presenter’s name</a:t>
            </a:r>
            <a:endParaRPr lang="en-IN" dirty="0"/>
          </a:p>
        </p:txBody>
      </p:sp>
      <p:sp>
        <p:nvSpPr>
          <p:cNvPr id="16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051024" y="4778753"/>
            <a:ext cx="6616976" cy="404746"/>
          </a:xfrm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presenter’s designation</a:t>
            </a:r>
            <a:endParaRPr lang="en-IN" dirty="0"/>
          </a:p>
        </p:txBody>
      </p:sp>
      <p:sp>
        <p:nvSpPr>
          <p:cNvPr id="17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051025" y="5203263"/>
            <a:ext cx="6616976" cy="404746"/>
          </a:xfrm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presenter’s department</a:t>
            </a:r>
            <a:endParaRPr lang="en-IN" dirty="0"/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051024" y="5608009"/>
            <a:ext cx="6616976" cy="404746"/>
          </a:xfrm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rgbClr val="0070C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presenter’s official email id</a:t>
            </a:r>
            <a:endParaRPr lang="en-IN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879112" y="6173877"/>
            <a:ext cx="8433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+mn-lt"/>
                <a:ea typeface="Roboto Condensed" panose="02000000000000000000" pitchFamily="2" charset="0"/>
              </a:rPr>
              <a:t>SCHOOL OF ENGINEERING &amp; TECHNOLOGY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 Condensed" panose="02000000000000000000" pitchFamily="2" charset="0"/>
              </a:rPr>
              <a:t>| </a:t>
            </a:r>
            <a:r>
              <a:rPr lang="en-IN" sz="2000" b="1" dirty="0">
                <a:solidFill>
                  <a:srgbClr val="7030A0"/>
                </a:solidFill>
                <a:latin typeface="+mn-lt"/>
                <a:ea typeface="Roboto Condensed" panose="02000000000000000000" pitchFamily="2" charset="0"/>
              </a:rPr>
              <a:t>ADAMAS UNIVERSITY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 Condensed" panose="02000000000000000000" pitchFamily="2" charset="0"/>
              </a:rPr>
              <a:t>| </a:t>
            </a:r>
            <a:r>
              <a:rPr lang="en-IN" sz="2000" b="1" dirty="0">
                <a:solidFill>
                  <a:srgbClr val="7030A0"/>
                </a:solidFill>
                <a:latin typeface="+mn-lt"/>
                <a:ea typeface="Roboto Condensed" panose="02000000000000000000" pitchFamily="2" charset="0"/>
              </a:rPr>
              <a:t>KOLKATA</a:t>
            </a:r>
            <a:endParaRPr lang="en-IN" sz="2000" b="1" dirty="0">
              <a:solidFill>
                <a:srgbClr val="7030A0"/>
              </a:solidFill>
              <a:latin typeface="+mn-lt"/>
              <a:ea typeface="Roboto Condensed" panose="02000000000000000000" pitchFamily="2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724771" y="695535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#</a:t>
            </a:r>
            <a:r>
              <a:rPr lang="en-IN" sz="2800" b="1" dirty="0" err="1">
                <a:solidFill>
                  <a:srgbClr val="0070C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Engineering</a:t>
            </a:r>
            <a:r>
              <a:rPr lang="en-IN" sz="2800" b="1" dirty="0" err="1">
                <a:solidFill>
                  <a:srgbClr val="92D05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Plus</a:t>
            </a:r>
            <a:endParaRPr lang="en-IN" sz="2800" b="1" dirty="0">
              <a:solidFill>
                <a:srgbClr val="92D05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2896" y="284013"/>
            <a:ext cx="1415921" cy="13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6962"/>
            <a:ext cx="10515600" cy="4990001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00150"/>
            <a:ext cx="5181600" cy="4976813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00150"/>
            <a:ext cx="5181600" cy="4976813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C46C901-5281-4ECF-8B09-090D7E79CD2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0138"/>
            <a:ext cx="5157787" cy="82391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00250"/>
            <a:ext cx="5157787" cy="4189413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0138"/>
            <a:ext cx="5183188" cy="82391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00250"/>
            <a:ext cx="5183188" cy="4189413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E75FD63-A28F-4BD9-8687-A1A2E154291C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CB619AA-E1D9-4F34-82B3-92C4039AA6B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CB619AA-E1D9-4F34-82B3-92C4039AA6B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987425"/>
            <a:ext cx="3933825" cy="982663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CB619AA-E1D9-4F34-82B3-92C4039AA6B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8715375" cy="895350"/>
          </a:xfrm>
          <a:prstGeom prst="rect">
            <a:avLst/>
          </a:prstGeom>
        </p:spPr>
        <p:txBody>
          <a:bodyPr anchor="ctr" anchorCtr="0"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  <a:endParaRPr lang="en-IN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987425"/>
            <a:ext cx="3932236" cy="96361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ndoor, map, table, window&#10;&#10;Description automatically generated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1013249" y="3013501"/>
            <a:ext cx="101655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 Condensed" panose="02000000000000000000" pitchFamily="2" charset="0"/>
              </a:rPr>
              <a:t>Thank You</a:t>
            </a:r>
            <a:endParaRPr lang="en-IN" sz="4800" b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61863"/>
            <a:ext cx="10515600" cy="511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  <a:latin typeface="+mn-lt"/>
                <a:ea typeface="Roboto Condensed" panose="02000000000000000000" pitchFamily="2" charset="0"/>
              </a:defRPr>
            </a:lvl1pPr>
          </a:lstStyle>
          <a:p>
            <a:fld id="{9F2A6CE7-99D0-4824-9E0A-03550E77D5C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  <a:latin typeface="+mn-lt"/>
                <a:ea typeface="Roboto Condensed" panose="02000000000000000000" pitchFamily="2" charset="0"/>
              </a:defRPr>
            </a:lvl1pPr>
          </a:lstStyle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  <a:latin typeface="+mn-lt"/>
                <a:ea typeface="Roboto Condensed" panose="02000000000000000000" pitchFamily="2" charset="0"/>
              </a:defRPr>
            </a:lvl1pPr>
          </a:lstStyle>
          <a:p>
            <a:fld id="{56EB86FE-35CB-4CA4-B727-7A6E4098DE40}" type="slidenum">
              <a:rPr lang="en-IN" smtClean="0"/>
            </a:fld>
            <a:endParaRPr lang="en-IN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0"/>
            <a:ext cx="12192000" cy="896358"/>
            <a:chOff x="0" y="-1"/>
            <a:chExt cx="12192000" cy="896358"/>
          </a:xfrm>
        </p:grpSpPr>
        <p:sp>
          <p:nvSpPr>
            <p:cNvPr id="12" name="Rectangle 11"/>
            <p:cNvSpPr/>
            <p:nvPr/>
          </p:nvSpPr>
          <p:spPr>
            <a:xfrm>
              <a:off x="8610600" y="-1"/>
              <a:ext cx="3581400" cy="8963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7"/>
            <p:cNvSpPr/>
            <p:nvPr/>
          </p:nvSpPr>
          <p:spPr>
            <a:xfrm>
              <a:off x="0" y="0"/>
              <a:ext cx="10288485" cy="896357"/>
            </a:xfrm>
            <a:custGeom>
              <a:avLst/>
              <a:gdLst>
                <a:gd name="connsiteX0" fmla="*/ 0 w 9650027"/>
                <a:gd name="connsiteY0" fmla="*/ 0 h 896357"/>
                <a:gd name="connsiteX1" fmla="*/ 9650027 w 9650027"/>
                <a:gd name="connsiteY1" fmla="*/ 0 h 896357"/>
                <a:gd name="connsiteX2" fmla="*/ 9650027 w 9650027"/>
                <a:gd name="connsiteY2" fmla="*/ 896357 h 896357"/>
                <a:gd name="connsiteX3" fmla="*/ 0 w 9650027"/>
                <a:gd name="connsiteY3" fmla="*/ 896357 h 896357"/>
                <a:gd name="connsiteX4" fmla="*/ 0 w 9650027"/>
                <a:gd name="connsiteY4" fmla="*/ 0 h 896357"/>
                <a:gd name="connsiteX0-1" fmla="*/ 0 w 9650027"/>
                <a:gd name="connsiteY0-2" fmla="*/ 0 h 896357"/>
                <a:gd name="connsiteX1-3" fmla="*/ 8975324 w 9650027"/>
                <a:gd name="connsiteY1-4" fmla="*/ 0 h 896357"/>
                <a:gd name="connsiteX2-5" fmla="*/ 9650027 w 9650027"/>
                <a:gd name="connsiteY2-6" fmla="*/ 896357 h 896357"/>
                <a:gd name="connsiteX3-7" fmla="*/ 0 w 9650027"/>
                <a:gd name="connsiteY3-8" fmla="*/ 896357 h 896357"/>
                <a:gd name="connsiteX4-9" fmla="*/ 0 w 9650027"/>
                <a:gd name="connsiteY4-10" fmla="*/ 0 h 8963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650027" h="896357">
                  <a:moveTo>
                    <a:pt x="0" y="0"/>
                  </a:moveTo>
                  <a:lnTo>
                    <a:pt x="8975324" y="0"/>
                  </a:lnTo>
                  <a:lnTo>
                    <a:pt x="9650027" y="896357"/>
                  </a:lnTo>
                  <a:lnTo>
                    <a:pt x="0" y="896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4" name="Picture 2" descr="Adamas University - Wikipedia"/>
          <p:cNvPicPr>
            <a:picLocks noChangeAspect="1" noChangeArrowheads="1"/>
          </p:cNvPicPr>
          <p:nvPr userDrawn="1"/>
        </p:nvPicPr>
        <p:blipFill>
          <a:blip r:embed="rId9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2064" y="0"/>
            <a:ext cx="896357" cy="89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/>
          <p:cNvSpPr txBox="1"/>
          <p:nvPr userDrawn="1"/>
        </p:nvSpPr>
        <p:spPr>
          <a:xfrm>
            <a:off x="0" y="6721475"/>
            <a:ext cx="12192000" cy="190521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6874" y="1404466"/>
            <a:ext cx="8360230" cy="1161451"/>
          </a:xfrm>
        </p:spPr>
        <p:txBody>
          <a:bodyPr/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Hybrid Transformer Based Deep Learning Approach for Parkinson’s Disease Detection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8668" y="2752218"/>
            <a:ext cx="5343332" cy="756404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Guided by: Arnab Das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05273" y="5243440"/>
            <a:ext cx="6643395" cy="751635"/>
          </a:xfrm>
        </p:spPr>
        <p:txBody>
          <a:bodyPr/>
          <a:lstStyle/>
          <a:p>
            <a:pPr algn="l"/>
            <a:r>
              <a:rPr lang="en-IN" sz="2000" dirty="0">
                <a:solidFill>
                  <a:srgbClr val="002060"/>
                </a:solidFill>
              </a:rPr>
              <a:t>Pritam Singha  (UG/02/BTCSEAIML/2022/028)</a:t>
            </a:r>
            <a:endParaRPr lang="en-IN" sz="2000" dirty="0">
              <a:solidFill>
                <a:srgbClr val="002060"/>
              </a:solidFill>
            </a:endParaRPr>
          </a:p>
          <a:p>
            <a:pPr algn="l"/>
            <a:r>
              <a:rPr lang="fi-FI" sz="2000" dirty="0">
                <a:solidFill>
                  <a:srgbClr val="002060"/>
                </a:solidFill>
              </a:rPr>
              <a:t>Ankan Sahoo (UG/02/BTCSEAIML/2022/033)</a:t>
            </a:r>
            <a:endParaRPr lang="en-IN" sz="2000" dirty="0">
              <a:solidFill>
                <a:srgbClr val="002060"/>
              </a:solidFill>
            </a:endParaRPr>
          </a:p>
          <a:p>
            <a:pPr algn="l"/>
            <a:r>
              <a:rPr lang="en-US" sz="2000" dirty="0" err="1">
                <a:solidFill>
                  <a:srgbClr val="002060"/>
                </a:solidFill>
                <a:ea typeface="Calibri" panose="020F0502020204030204"/>
                <a:cs typeface="Segoe UI" panose="020B0502040204020203"/>
              </a:rPr>
              <a:t>Sanandita</a:t>
            </a:r>
            <a:r>
              <a:rPr lang="en-US" sz="2000" dirty="0">
                <a:solidFill>
                  <a:srgbClr val="002060"/>
                </a:solidFill>
                <a:ea typeface="Calibri" panose="020F0502020204030204"/>
                <a:cs typeface="Segoe UI" panose="020B0502040204020203"/>
              </a:rPr>
              <a:t> Saha (UG/02/BTCSEAIML/2022/019)</a:t>
            </a:r>
            <a:endParaRPr lang="en-US" sz="2000" dirty="0">
              <a:solidFill>
                <a:srgbClr val="002060"/>
              </a:solidFill>
              <a:ea typeface="Calibri" panose="020F0502020204030204"/>
              <a:cs typeface="Segoe UI" panose="020B0502040204020203"/>
            </a:endParaRPr>
          </a:p>
          <a:p>
            <a:pPr algn="l"/>
            <a:r>
              <a:rPr lang="en-US" sz="2000" dirty="0">
                <a:solidFill>
                  <a:srgbClr val="002060"/>
                </a:solidFill>
                <a:ea typeface="Calibri" panose="020F0502020204030204"/>
                <a:cs typeface="Segoe UI" panose="020B0502040204020203"/>
              </a:rPr>
              <a:t>Hasim Paik  </a:t>
            </a:r>
            <a:r>
              <a:rPr lang="en-IN" sz="2000" dirty="0">
                <a:solidFill>
                  <a:srgbClr val="002060"/>
                </a:solidFill>
              </a:rPr>
              <a:t>(UG/02/BTCSE/2022/126)</a:t>
            </a:r>
            <a:endParaRPr lang="en-IN" sz="2000" dirty="0">
              <a:solidFill>
                <a:srgbClr val="002060"/>
              </a:solidFill>
            </a:endParaRPr>
          </a:p>
          <a:p>
            <a:pPr algn="l"/>
            <a:r>
              <a:rPr lang="en-IN" sz="2000" dirty="0">
                <a:solidFill>
                  <a:srgbClr val="002060"/>
                </a:solidFill>
              </a:rPr>
              <a:t>Soumyadeep Chakraborty (UG/02/BTCSEAIML/2022/032)</a:t>
            </a:r>
            <a:endParaRPr lang="en-IN" sz="2000" dirty="0">
              <a:solidFill>
                <a:srgbClr val="002060"/>
              </a:solidFill>
            </a:endParaRPr>
          </a:p>
          <a:p>
            <a:pPr algn="l"/>
            <a:endParaRPr lang="en-IN" sz="2000" dirty="0">
              <a:solidFill>
                <a:srgbClr val="002060"/>
              </a:solidFill>
            </a:endParaRPr>
          </a:p>
          <a:p>
            <a:pPr algn="l"/>
            <a:endParaRPr lang="en-US" sz="2000" dirty="0">
              <a:solidFill>
                <a:srgbClr val="002060"/>
              </a:solidFill>
              <a:ea typeface="Calibri" panose="020F0502020204030204"/>
              <a:cs typeface="Segoe UI" panose="020B0502040204020203"/>
            </a:endParaRPr>
          </a:p>
          <a:p>
            <a:pPr algn="l"/>
            <a:endParaRPr lang="en-IN" sz="2000" dirty="0"/>
          </a:p>
          <a:p>
            <a:pPr algn="l"/>
            <a:endParaRPr lang="fi-FI" sz="2000" dirty="0">
              <a:solidFill>
                <a:srgbClr val="002060"/>
              </a:solidFill>
            </a:endParaRPr>
          </a:p>
          <a:p>
            <a:pPr algn="l"/>
            <a:endParaRPr lang="en-IN" sz="2000" dirty="0">
              <a:solidFill>
                <a:srgbClr val="002060"/>
              </a:solidFill>
            </a:endParaRPr>
          </a:p>
          <a:p>
            <a:pPr algn="l"/>
            <a:endParaRPr lang="en-IN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Introduction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Abstract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Problem Statement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Literature Review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Datasets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Previous Work – Hybrid CNN–FCNN Model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Present Work – Data Cleaning &amp; Preparation Pipeline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Proposed Methodology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Conclusion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Referances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Parkinson’s Disease is a brain disorder that affects body movement.</a:t>
            </a:r>
            <a:endParaRPr lang="en-US" dirty="0"/>
          </a:p>
          <a:p>
            <a:r>
              <a:rPr lang="en-US" dirty="0"/>
              <a:t>It happens when certain brain cells that produce dopamine start dying.</a:t>
            </a:r>
            <a:endParaRPr lang="en-US" dirty="0"/>
          </a:p>
          <a:p>
            <a:r>
              <a:rPr lang="en-US" dirty="0"/>
              <a:t>Common symptoms are shaking of hands, slow movement, and stiffness.</a:t>
            </a:r>
            <a:endParaRPr lang="en-US" dirty="0"/>
          </a:p>
          <a:p>
            <a:r>
              <a:rPr lang="en-US" dirty="0"/>
              <a:t>The disease develops slowly and is hard to detect in early stages.</a:t>
            </a:r>
            <a:endParaRPr lang="en-US" dirty="0"/>
          </a:p>
          <a:p>
            <a:r>
              <a:rPr lang="en-US" dirty="0"/>
              <a:t>Changes in handwriting are seen in early stages of the disease.</a:t>
            </a:r>
            <a:endParaRPr lang="en-US" dirty="0"/>
          </a:p>
          <a:p>
            <a:r>
              <a:rPr lang="en-US" dirty="0"/>
              <a:t>People with Parkinson’s may write smaller or shaky letters.</a:t>
            </a:r>
            <a:endParaRPr lang="en-US" dirty="0"/>
          </a:p>
          <a:p>
            <a:r>
              <a:rPr lang="en-US" dirty="0"/>
              <a:t>In this project, we use Artificial Intelligence to study handwriting images.</a:t>
            </a:r>
            <a:endParaRPr lang="en-US" dirty="0"/>
          </a:p>
          <a:p>
            <a:r>
              <a:rPr lang="en-US" dirty="0"/>
              <a:t>Our model helps in detecting Parkinson’s Disease automatically.</a:t>
            </a:r>
            <a:endParaRPr lang="en-US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Parkinson’s Disease is a brain disorder that affects body movement and motor control. In the early stages, small changes can be seen in a person’s handwriting. </a:t>
            </a:r>
            <a:endParaRPr lang="en-US" dirty="0"/>
          </a:p>
          <a:p>
            <a:r>
              <a:rPr lang="en-US" dirty="0"/>
              <a:t>These changes include shaky lines and smaller letters. Early detection of the disease is important but can be difficult.</a:t>
            </a:r>
            <a:endParaRPr lang="en-US" dirty="0"/>
          </a:p>
          <a:p>
            <a:r>
              <a:rPr lang="en-US" dirty="0"/>
              <a:t>In this project, we use deep learning to detect Parkinson’s Disease using handwriting images. We propose a hybrid model that combines Convolutional Neural Network (CNN) and Transformer. </a:t>
            </a:r>
            <a:endParaRPr lang="en-US" dirty="0"/>
          </a:p>
          <a:p>
            <a:r>
              <a:rPr lang="en-US" dirty="0"/>
              <a:t>The CNN extracts important stroke features from the handwriting, and the Transformer helps in understanding overall patterns. The proposed model helps in automatic and early detection of Parkinson’s Disease.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Parkinson’s Disease is usually diagnosed after symptoms become clearly visible.</a:t>
            </a:r>
            <a:endParaRPr lang="en-US" dirty="0"/>
          </a:p>
          <a:p>
            <a:r>
              <a:rPr lang="en-US" dirty="0"/>
              <a:t>Early detection is difficult because the changes in movement are very small in the beginning.</a:t>
            </a:r>
            <a:endParaRPr lang="en-US" dirty="0"/>
          </a:p>
          <a:p>
            <a:r>
              <a:rPr lang="en-US" dirty="0"/>
              <a:t>Clinical diagnosis requires experienced neurologists and special medical tests.</a:t>
            </a:r>
            <a:endParaRPr lang="en-US" dirty="0"/>
          </a:p>
          <a:p>
            <a:r>
              <a:rPr lang="en-US" dirty="0"/>
              <a:t>These tests can be expensive and time consuming.</a:t>
            </a:r>
            <a:endParaRPr lang="en-US" dirty="0"/>
          </a:p>
          <a:p>
            <a:r>
              <a:rPr lang="en-US" dirty="0"/>
              <a:t>Handwriting changes appear in early stages of the disease.</a:t>
            </a:r>
            <a:endParaRPr lang="en-US" dirty="0"/>
          </a:p>
          <a:p>
            <a:r>
              <a:rPr lang="en-US" dirty="0"/>
              <a:t>So, we aim to use handwriting images and Artificial Intelligence to build an automatic classification system.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researchers have used CNN models to classify spiral drawings for Parkinson’s detection.</a:t>
            </a:r>
            <a:endParaRPr lang="en-US" dirty="0"/>
          </a:p>
          <a:p>
            <a:r>
              <a:rPr lang="en-US" dirty="0"/>
              <a:t> CNN models are good at extracting local stroke features from handwriting images.</a:t>
            </a:r>
            <a:br>
              <a:rPr lang="en-US" dirty="0"/>
            </a:br>
            <a:r>
              <a:rPr lang="en-US" dirty="0"/>
              <a:t>• Recently, Transformers have been used in medical image analysis for better pattern recognition.</a:t>
            </a:r>
            <a:br>
              <a:rPr lang="en-US" dirty="0"/>
            </a:br>
            <a:r>
              <a:rPr lang="en-US" dirty="0"/>
              <a:t>• Hybrid models that combine CNN and Transformer have shown improved performance.</a:t>
            </a:r>
            <a:br>
              <a:rPr lang="en-US" dirty="0"/>
            </a:br>
            <a:r>
              <a:rPr lang="en-US" dirty="0"/>
              <a:t>• However, there is limited research combining both techniques specifically for handwriting-based Parkinson’s detection.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Literature Review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/>
              <a:t>The</a:t>
            </a:r>
            <a:r>
              <a:rPr lang="en-US" altLang="en-US"/>
              <a:t> stud</a:t>
            </a:r>
            <a:r>
              <a:rPr lang="en-IN" altLang="en-US"/>
              <a:t>ies</a:t>
            </a:r>
            <a:r>
              <a:rPr lang="en-US" altLang="en-US"/>
              <a:t> proposes a flexible pressure-sensitive handwriting system combined with deep learning for detecting Parkinson’s disease (PD).</a:t>
            </a:r>
            <a:endParaRPr lang="en-US" altLang="en-US"/>
          </a:p>
          <a:p>
            <a:r>
              <a:rPr lang="en-US" altLang="en-US"/>
              <a:t>Dysgraphia is an early motor symptom of PD.</a:t>
            </a:r>
            <a:endParaRPr lang="en-US" altLang="en-US"/>
          </a:p>
          <a:p>
            <a:r>
              <a:rPr lang="en-US" altLang="en-US"/>
              <a:t>Writing abnormalities can serve as objective biomarkers.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Parkinson’s Disease &amp; Early Detection</a:t>
            </a:r>
            <a:endParaRPr lang="en-US" altLang="en-US"/>
          </a:p>
          <a:p>
            <a:r>
              <a:rPr lang="en-US" altLang="en-US"/>
              <a:t>Parkinson’s disease (PD) is a progressive neurodegenerative disorder affecting motor control.</a:t>
            </a:r>
            <a:endParaRPr lang="en-US" altLang="en-US"/>
          </a:p>
          <a:p>
            <a:r>
              <a:rPr lang="en-US" altLang="en-US"/>
              <a:t>Early diagnosis is critical because treatments can only manage symptoms, not cure the disease.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 dirty="0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Literature Review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reviewed study highlights handwriting as a reliable indicator because writing involves:</a:t>
            </a:r>
            <a:endParaRPr lang="en-US" altLang="en-US"/>
          </a:p>
          <a:p>
            <a:r>
              <a:rPr lang="en-US" altLang="en-US"/>
              <a:t>Cognitive processing</a:t>
            </a:r>
            <a:endParaRPr lang="en-US" altLang="en-US"/>
          </a:p>
          <a:p>
            <a:r>
              <a:rPr lang="en-US" altLang="en-US"/>
              <a:t>Motor coordination</a:t>
            </a:r>
            <a:endParaRPr lang="en-US" altLang="en-US"/>
          </a:p>
          <a:p>
            <a:r>
              <a:rPr lang="en-US" altLang="en-US"/>
              <a:t>Neuromuscular control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Common handwriting abnormalities in PD:</a:t>
            </a:r>
            <a:endParaRPr lang="en-US" altLang="en-US"/>
          </a:p>
          <a:p>
            <a:r>
              <a:rPr lang="en-US" altLang="en-US"/>
              <a:t>Micrographia (very small handwriting)</a:t>
            </a:r>
            <a:endParaRPr lang="en-US" altLang="en-US"/>
          </a:p>
          <a:p>
            <a:r>
              <a:rPr lang="en-US" altLang="en-US"/>
              <a:t>Slower writing speed</a:t>
            </a:r>
            <a:endParaRPr lang="en-US" altLang="en-US"/>
          </a:p>
          <a:p>
            <a:r>
              <a:rPr lang="en-US" altLang="en-US"/>
              <a:t>Irregular stroke patterns</a:t>
            </a:r>
            <a:endParaRPr lang="en-US" altLang="en-US"/>
          </a:p>
          <a:p>
            <a:r>
              <a:rPr lang="en-US" altLang="en-US"/>
              <a:t>Tremors and jerky motion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 dirty="0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u="sng" dirty="0">
                <a:latin typeface="Calibri" panose="020F0502020204030204"/>
                <a:ea typeface="Calibri" panose="020F0502020204030204"/>
                <a:cs typeface="Calibri" panose="020F0502020204030204"/>
              </a:rPr>
              <a:t>DATASETS 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fontAlgn="ctr">
              <a:buNone/>
            </a:pPr>
            <a:r>
              <a:rPr lang="en-US" sz="3600" b="1" u="sng" dirty="0">
                <a:solidFill>
                  <a:schemeClr val="tx1"/>
                </a:solidFill>
                <a:ea typeface="Roboto Condensed"/>
              </a:rPr>
              <a:t>1. Introduction :-</a:t>
            </a:r>
            <a:endParaRPr lang="en-US" sz="3600" b="1" u="sng" dirty="0">
              <a:solidFill>
                <a:schemeClr val="tx1"/>
              </a:solidFill>
              <a:ea typeface="Roboto Condensed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For this research, we studied two publicly available datasets developed by </a:t>
            </a:r>
            <a:r>
              <a:rPr lang="en-US" sz="2800" b="1" dirty="0" err="1">
                <a:solidFill>
                  <a:schemeClr val="tx1"/>
                </a:solidFill>
                <a:ea typeface="+mn-lt"/>
                <a:cs typeface="+mn-lt"/>
              </a:rPr>
              <a:t>Botucatu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 Medical School, São Paulo State University (UNESP), Brazil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:</a:t>
            </a:r>
            <a:endParaRPr lang="en-US" sz="2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 --</a:t>
            </a:r>
            <a:r>
              <a:rPr lang="en-US" sz="2800" b="1" dirty="0" err="1">
                <a:solidFill>
                  <a:schemeClr val="tx1"/>
                </a:solidFill>
                <a:ea typeface="+mn-lt"/>
                <a:cs typeface="+mn-lt"/>
              </a:rPr>
              <a:t>HandPD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(Original Dataset)</a:t>
            </a:r>
            <a:endParaRPr lang="en-US" sz="2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 --</a:t>
            </a:r>
            <a:r>
              <a:rPr lang="en-US" sz="2800" b="1" dirty="0" err="1">
                <a:solidFill>
                  <a:schemeClr val="tx1"/>
                </a:solidFill>
                <a:ea typeface="+mn-lt"/>
                <a:cs typeface="+mn-lt"/>
              </a:rPr>
              <a:t>NewHandPD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(Extended Dataset)</a:t>
            </a:r>
            <a:endParaRPr lang="en-US" sz="2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  Both datasets were created to support research in </a:t>
            </a:r>
            <a:r>
              <a:rPr lang="en-US" sz="2800" b="1" dirty="0">
                <a:solidFill>
                  <a:schemeClr val="tx1"/>
                </a:solidFill>
                <a:ea typeface="+mn-lt"/>
                <a:cs typeface="+mn-lt"/>
              </a:rPr>
              <a:t>Parkinson’s disease detection using handwriting analysis</a:t>
            </a: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Parkinson’s disease affects motor control, which causes tremors and instability in handwriting. These datasets help analyze such motor impairments using artificial intelligence models.</a:t>
            </a:r>
            <a:endParaRPr lang="en-US" sz="2800" dirty="0">
              <a:solidFill>
                <a:schemeClr val="tx1"/>
              </a:solidFill>
              <a:cs typeface="Calibri" panose="020F0502020204030204"/>
            </a:endParaRPr>
          </a:p>
          <a:p>
            <a:pPr algn="just">
              <a:buNone/>
            </a:pPr>
            <a:endParaRPr lang="en-US" sz="3600" u="sng" dirty="0">
              <a:solidFill>
                <a:schemeClr val="tx1"/>
              </a:solidFill>
              <a:ea typeface="Roboto Condensed"/>
            </a:endParaRPr>
          </a:p>
          <a:p>
            <a:pPr algn="just">
              <a:buNone/>
            </a:pPr>
            <a:r>
              <a:rPr lang="en-US" sz="3600" b="1" u="sng" dirty="0">
                <a:solidFill>
                  <a:schemeClr val="tx1"/>
                </a:solidFill>
                <a:ea typeface="Roboto Condensed"/>
              </a:rPr>
              <a:t>2.Dataset Format Used in This Project :-</a:t>
            </a:r>
            <a:endParaRPr lang="en-US" sz="3600" b="1" u="sng" dirty="0">
              <a:solidFill>
                <a:schemeClr val="tx1"/>
              </a:solidFill>
              <a:ea typeface="Roboto Condensed"/>
              <a:cs typeface="Calibri" panose="020F0502020204030204"/>
            </a:endParaRPr>
          </a:p>
          <a:p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Images used in JPEG (.jpg) format</a:t>
            </a:r>
            <a:endParaRPr lang="en-US" sz="2800" dirty="0">
              <a:solidFill>
                <a:schemeClr val="tx1"/>
              </a:solidFill>
              <a:ea typeface="Calibri" panose="020F0502020204030204"/>
              <a:cs typeface="+mn-lt"/>
            </a:endParaRPr>
          </a:p>
          <a:p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Organized into Healthy and Parkinson folders</a:t>
            </a:r>
            <a:endParaRPr lang="en-US" sz="2800" dirty="0">
              <a:solidFill>
                <a:schemeClr val="tx1"/>
              </a:solidFill>
              <a:cs typeface="+mn-lt"/>
            </a:endParaRPr>
          </a:p>
          <a:p>
            <a:r>
              <a:rPr lang="en-US" sz="2800" dirty="0">
                <a:solidFill>
                  <a:schemeClr val="tx1"/>
                </a:solidFill>
                <a:ea typeface="+mn-lt"/>
                <a:cs typeface="+mn-lt"/>
              </a:rPr>
              <a:t>Preprocessed by resizing to 128 × 128</a:t>
            </a:r>
            <a:endParaRPr lang="en-US" sz="2800" dirty="0">
              <a:solidFill>
                <a:schemeClr val="tx1"/>
              </a:solidFill>
              <a:cs typeface="+mn-lt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229" y="4017864"/>
            <a:ext cx="5444238" cy="19890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00150"/>
            <a:ext cx="5181600" cy="49768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3.HandPD Dataset (Original Version) :-</a:t>
            </a:r>
            <a:endParaRPr lang="en-US" sz="1800" b="1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u="sng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Tasks Performed:</a:t>
            </a:r>
            <a:endParaRPr lang="en-US" sz="1800" u="sng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 Spiral drawings</a:t>
            </a:r>
            <a:b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 Meander drawings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These drawings help detect motor instability caused by Parkinson’s disease.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u="sng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Participants:</a:t>
            </a:r>
            <a:endParaRPr lang="en-US" sz="1800" u="sng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 Total: 92</a:t>
            </a:r>
            <a:b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  – Healthy Group: 18 (6 Male, 12 Female)</a:t>
            </a:r>
            <a:b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  – Parkinson’s Group: 74 (59 Male, 15 Female)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u="sng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Total Data Samples:</a:t>
            </a:r>
            <a:endParaRPr lang="en-US" sz="1800" u="sng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   736 Images</a:t>
            </a:r>
            <a:b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   – 368 Spiral</a:t>
            </a:r>
            <a:b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   – 368 Meander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Each participant contributed 8 images.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800" dirty="0">
              <a:solidFill>
                <a:schemeClr val="tx1"/>
              </a:solidFill>
              <a:cs typeface="Calibri" panose="020F0502020204030204"/>
            </a:endParaRPr>
          </a:p>
          <a:p>
            <a:endParaRPr lang="en-IN" sz="18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72200" y="1200150"/>
            <a:ext cx="5444412" cy="49768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  <a:ea typeface="Roboto Condensed"/>
              </a:rPr>
              <a:t>4.NewHandPD Dataset (Extended Version):-</a:t>
            </a:r>
            <a:endParaRPr lang="en-US" sz="1800" b="1" u="sng" dirty="0">
              <a:solidFill>
                <a:schemeClr val="tx1"/>
              </a:solidFill>
              <a:ea typeface="Roboto Condensed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 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NewHandPD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is an improved version with additional tasks.</a:t>
            </a:r>
            <a:endParaRPr lang="en-US" sz="1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Roboto Condensed"/>
              </a:rPr>
              <a:t> </a:t>
            </a:r>
            <a:r>
              <a:rPr lang="en-US" sz="1800" u="sng" dirty="0">
                <a:solidFill>
                  <a:schemeClr val="tx1"/>
                </a:solidFill>
                <a:ea typeface="Roboto Condensed"/>
              </a:rPr>
              <a:t>Tasks Included:</a:t>
            </a:r>
            <a:endParaRPr lang="en-US" sz="1800" u="sng" dirty="0">
              <a:solidFill>
                <a:schemeClr val="tx1"/>
              </a:solidFill>
              <a:ea typeface="Roboto Condensed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  • Spiral drawings</a:t>
            </a:r>
            <a:b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</a:b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 • Meander drawings</a:t>
            </a:r>
            <a:b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</a:b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 • Circle drawings [We have extra "Circle Drawing" in this Dataset]</a:t>
            </a:r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Roboto Condensed"/>
              </a:rPr>
              <a:t> </a:t>
            </a:r>
            <a:r>
              <a:rPr lang="en-US" sz="1800" u="sng" dirty="0">
                <a:solidFill>
                  <a:schemeClr val="tx1"/>
                </a:solidFill>
                <a:ea typeface="Roboto Condensed"/>
              </a:rPr>
              <a:t>Participants:</a:t>
            </a:r>
            <a:endParaRPr lang="en-US" sz="1800" u="sng" dirty="0">
              <a:solidFill>
                <a:schemeClr val="tx1"/>
              </a:solidFill>
              <a:ea typeface="Roboto Condensed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 • Total: 66</a:t>
            </a:r>
            <a:b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</a:b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   – Healthy Group: 35</a:t>
            </a:r>
            <a:b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</a:b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   – Parkinson’s Group: 31</a:t>
            </a:r>
            <a:endParaRPr lang="en-US" sz="1800" dirty="0">
              <a:solidFill>
                <a:schemeClr val="tx1"/>
              </a:solidFill>
              <a:ea typeface="Roboto Condensed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The official website does </a:t>
            </a:r>
            <a:r>
              <a:rPr lang="en-US" sz="1800" b="1" dirty="0">
                <a:solidFill>
                  <a:schemeClr val="tx1"/>
                </a:solidFill>
                <a:ea typeface="+mn-lt"/>
                <a:cs typeface="+mn-lt"/>
              </a:rPr>
              <a:t>NOT provide separate male–female distribution for </a:t>
            </a:r>
            <a:r>
              <a:rPr lang="en-US" sz="1800" b="1" dirty="0" err="1">
                <a:solidFill>
                  <a:schemeClr val="tx1"/>
                </a:solidFill>
                <a:ea typeface="+mn-lt"/>
                <a:cs typeface="+mn-lt"/>
              </a:rPr>
              <a:t>NewHandPD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publicly like the original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HandPD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does.</a:t>
            </a:r>
            <a:endParaRPr lang="en-US" sz="1800" dirty="0">
              <a:solidFill>
                <a:schemeClr val="tx1"/>
              </a:solidFill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Roboto Condensed"/>
                <a:cs typeface="+mn-lt"/>
              </a:rPr>
              <a:t> </a:t>
            </a:r>
            <a:r>
              <a:rPr lang="en-US" sz="1800" dirty="0">
                <a:solidFill>
                  <a:schemeClr val="tx1"/>
                </a:solidFill>
                <a:ea typeface="Calibri" panose="020F0502020204030204"/>
                <a:cs typeface="+mn-lt"/>
              </a:rPr>
              <a:t>Total Data Samples:</a:t>
            </a:r>
            <a:endParaRPr lang="en-US" sz="1800" dirty="0">
              <a:solidFill>
                <a:schemeClr val="tx1"/>
              </a:solidFill>
              <a:ea typeface="Calibri" panose="020F0502020204030204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  264 Images</a:t>
            </a:r>
            <a:endParaRPr lang="en-US" sz="1800" dirty="0">
              <a:solidFill>
                <a:schemeClr val="tx1"/>
              </a:solidFill>
              <a:cs typeface="Calibri" panose="020F0502020204030204"/>
            </a:endParaRPr>
          </a:p>
          <a:p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 – Hybrid CNN–FCNN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Developed a custom CNN-based Parkinson’s Disease detection system using Spiral and Meander handwriting images (128×128 resolution).</a:t>
            </a:r>
            <a:endParaRPr lang="en-US" dirty="0"/>
          </a:p>
          <a:p>
            <a:r>
              <a:rPr lang="en-US" dirty="0"/>
              <a:t>Implemented preprocessing techniques including normalization, data augmentation, and class weighting to address dataset imbalance.</a:t>
            </a:r>
            <a:endParaRPr lang="en-US" dirty="0"/>
          </a:p>
          <a:p>
            <a:r>
              <a:rPr lang="en-US" dirty="0"/>
              <a:t>Designed a deep feature extraction pipeline using sequential Conv2D layers with progressively reduced filters (512 → 256 → 128 → 64 → 32 → 16 → 8 → 4 → 2) to capture multi-level tremor distortions.</a:t>
            </a:r>
            <a:endParaRPr lang="en-US" dirty="0"/>
          </a:p>
          <a:p>
            <a:r>
              <a:rPr lang="en-US" dirty="0"/>
              <a:t>Extracted high-level features from the custom CNN and trained a Fully Connected Neural Network (FCNN) for final classification.</a:t>
            </a:r>
            <a:endParaRPr lang="en-US" dirty="0"/>
          </a:p>
          <a:p>
            <a:r>
              <a:rPr lang="en-US" dirty="0"/>
              <a:t>Evaluated performance using accuracy metrics and confusion matrix analysis.</a:t>
            </a:r>
            <a:endParaRPr lang="en-US" dirty="0"/>
          </a:p>
          <a:p>
            <a:r>
              <a:rPr lang="en-US" dirty="0"/>
              <a:t>Achieved </a:t>
            </a:r>
            <a:r>
              <a:rPr lang="en-US" b="1" dirty="0"/>
              <a:t>84.56% overall accuracy</a:t>
            </a:r>
            <a:r>
              <a:rPr lang="en-US" dirty="0"/>
              <a:t>, demonstrating strong capability in Parkinson’s case identification.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>
              <a:cs typeface="Calibri" panose="020F0502020204030204"/>
            </a:endParaRPr>
          </a:p>
          <a:p>
            <a:endParaRPr lang="en-GB" dirty="0">
              <a:cs typeface="Calibri" panose="020F0502020204030204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Work – Data Cleaning &amp; Preparation Pipeline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Collected 512 images from the </a:t>
            </a:r>
            <a:r>
              <a:rPr lang="en-US" dirty="0" err="1"/>
              <a:t>NewHandPD</a:t>
            </a:r>
            <a:r>
              <a:rPr lang="en-US" dirty="0"/>
              <a:t> dataset and removed near-duplicate samples using perceptual hashing (</a:t>
            </a:r>
            <a:r>
              <a:rPr lang="en-US" dirty="0" err="1"/>
              <a:t>pHash</a:t>
            </a:r>
            <a:r>
              <a:rPr lang="en-US" dirty="0"/>
              <a:t>), resulting in 369 clean images.</a:t>
            </a:r>
            <a:endParaRPr lang="en-US" dirty="0"/>
          </a:p>
          <a:p>
            <a:r>
              <a:rPr lang="en-US" dirty="0"/>
              <a:t>Performed stratified 80–10–10 train–validation–test split with zero data leakage between sets.</a:t>
            </a:r>
            <a:endParaRPr lang="en-US" dirty="0"/>
          </a:p>
          <a:p>
            <a:r>
              <a:rPr lang="en-US" dirty="0"/>
              <a:t>Applied preprocessing including grayscale conversion, resizing (224×224), and pixel normalization.</a:t>
            </a:r>
            <a:endParaRPr lang="en-US" dirty="0"/>
          </a:p>
          <a:p>
            <a:r>
              <a:rPr lang="en-US" dirty="0"/>
              <a:t>Implemented advanced data augmentation (rotation, flipping, scaling, brightness variation) to enhance model generalization.</a:t>
            </a:r>
            <a:endParaRPr lang="en-US" dirty="0"/>
          </a:p>
          <a:p>
            <a:r>
              <a:rPr lang="en-US" dirty="0"/>
              <a:t>Expanded training dataset to over 2000 balanced samples to address class imbalance.</a:t>
            </a:r>
            <a:endParaRPr lang="en-US" dirty="0"/>
          </a:p>
          <a:p>
            <a:r>
              <a:rPr lang="en-US" dirty="0"/>
              <a:t>Built an efficient </a:t>
            </a:r>
            <a:r>
              <a:rPr lang="en-US" dirty="0" err="1"/>
              <a:t>tf.data</a:t>
            </a:r>
            <a:r>
              <a:rPr lang="en-US" dirty="0"/>
              <a:t> pipeline for optimized batch loading and training readiness.</a:t>
            </a:r>
            <a:endParaRPr lang="en-US" dirty="0"/>
          </a:p>
          <a:p>
            <a:endParaRPr lang="en-GB" dirty="0">
              <a:cs typeface="Calibri" panose="020F0502020204030204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Develop a Transformer-based deep learning model for automated Parkinson’s Disease classification using cleaned handwriting images.</a:t>
            </a:r>
            <a:endParaRPr lang="en-US" dirty="0"/>
          </a:p>
          <a:p>
            <a:r>
              <a:rPr lang="en-US" dirty="0"/>
              <a:t>Implement Patch Embedding to convert images into structured feature representations.</a:t>
            </a:r>
            <a:endParaRPr lang="en-US" dirty="0"/>
          </a:p>
          <a:p>
            <a:r>
              <a:rPr lang="en-US" dirty="0"/>
              <a:t>Apply multi-head self-attention mechanisms to capture fine-grained tremor and stroke irregularities.</a:t>
            </a:r>
            <a:endParaRPr lang="en-US" dirty="0"/>
          </a:p>
          <a:p>
            <a:r>
              <a:rPr lang="en-US" dirty="0"/>
              <a:t>Introduce progressive dimensional reduction for hierarchical feature learning.</a:t>
            </a:r>
            <a:endParaRPr lang="en-US" dirty="0"/>
          </a:p>
          <a:p>
            <a:r>
              <a:rPr lang="en-US" dirty="0"/>
              <a:t>Optimize model performance using advanced regularization and hyperparameter tuning.</a:t>
            </a:r>
            <a:endParaRPr lang="en-US" dirty="0"/>
          </a:p>
          <a:p>
            <a:r>
              <a:rPr lang="en-US" dirty="0"/>
              <a:t>Evaluate using accuracy, AUC, F1-score, and confusion matrix for robust validation.</a:t>
            </a:r>
            <a:endParaRPr lang="en-US" dirty="0"/>
          </a:p>
          <a:p>
            <a:endParaRPr lang="en-GB" dirty="0">
              <a:cs typeface="Calibri" panose="020F0502020204030204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In this project, we developed a Hybrid CNN-Transformer model for detecting Parkinson’s Disease using handwriting images.</a:t>
            </a:r>
            <a:br>
              <a:rPr lang="en-US" dirty="0"/>
            </a:br>
            <a:r>
              <a:rPr lang="en-US" dirty="0"/>
              <a:t>• The CNN extracts important stroke features, and the Transformer captures overall writing patterns.</a:t>
            </a:r>
            <a:br>
              <a:rPr lang="en-US" dirty="0"/>
            </a:br>
            <a:r>
              <a:rPr lang="en-US" dirty="0"/>
              <a:t>• The hybrid model performed better than a normal CNN model.</a:t>
            </a:r>
            <a:br>
              <a:rPr lang="en-US" dirty="0"/>
            </a:br>
            <a:r>
              <a:rPr lang="en-US" dirty="0"/>
              <a:t>• The system can help in early detection of Parkinson’s Disease.</a:t>
            </a:r>
            <a:br>
              <a:rPr lang="en-US" dirty="0"/>
            </a:br>
            <a:r>
              <a:rPr lang="en-US" dirty="0"/>
              <a:t>• It is a non-invasive and cost-effective screening approach.</a:t>
            </a:r>
            <a:br>
              <a:rPr lang="en-US" dirty="0"/>
            </a:br>
            <a:r>
              <a:rPr lang="en-US" dirty="0"/>
              <a:t>• This project shows that Artificial Intelligence can support medical diagnosis.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341B-7272-4FB6-A6ED-21AFB53AB1C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19878" y="1200150"/>
            <a:ext cx="10123714" cy="4976813"/>
          </a:xfrm>
        </p:spPr>
        <p:txBody>
          <a:bodyPr>
            <a:normAutofit/>
          </a:bodyPr>
          <a:lstStyle/>
          <a:p>
            <a:r>
              <a:rPr lang="en-US" dirty="0"/>
              <a:t>P. Roy, S. Gupta, and M. Chatterjee, "Deep Leaning-Based Early Detection of Parkinson's Disease from Hand-drawn Images," IEEE Region 10 Conference (TENCON), 2022, pp. 1453-1458.</a:t>
            </a:r>
            <a:endParaRPr lang="en-US" dirty="0"/>
          </a:p>
          <a:p>
            <a:endParaRPr lang="en-US" dirty="0"/>
          </a:p>
          <a:p>
            <a:r>
              <a:rPr lang="en-US" dirty="0"/>
              <a:t>A. Kumar and S. R. Bera, "Feature Engineering and CNN-Based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Classification of Parkinson's Disease," International Conference on      Machine Intelligence and Signal Processing (MISP), 2021.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Collected at </a:t>
            </a:r>
            <a:r>
              <a:rPr lang="en-US" dirty="0" err="1"/>
              <a:t>Botucatu</a:t>
            </a:r>
            <a:r>
              <a:rPr lang="en-US" dirty="0"/>
              <a:t> Medical School, São Paulo State University (UNESP), Brazil.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C901-5281-4ECF-8B09-090D7E79CD2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Topic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86FE-35CB-4CA4-B727-7A6E4098DE40}" type="slidenum">
              <a:rPr lang="en-IN" smtClean="0"/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REFERANCES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Template_Generic_SOET_19_06_2020</Template>
  <TotalTime>0</TotalTime>
  <Words>8124</Words>
  <Application>WPS Presentation</Application>
  <PresentationFormat>Widescreen</PresentationFormat>
  <Paragraphs>254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Roboto Condensed</vt:lpstr>
      <vt:lpstr>Wide Latin</vt:lpstr>
      <vt:lpstr>Calibri</vt:lpstr>
      <vt:lpstr>Segoe UI</vt:lpstr>
      <vt:lpstr>Roboto Condensed</vt:lpstr>
      <vt:lpstr>Segoe Print</vt:lpstr>
      <vt:lpstr>Microsoft YaHei</vt:lpstr>
      <vt:lpstr>Arial Unicode MS</vt:lpstr>
      <vt:lpstr>Calibri</vt:lpstr>
      <vt:lpstr>Office Theme</vt:lpstr>
      <vt:lpstr>Hybrid Transformer Based Deep Learning Approach for Parkinson’s Disease Detection</vt:lpstr>
      <vt:lpstr>Content </vt:lpstr>
      <vt:lpstr>Introduction</vt:lpstr>
      <vt:lpstr>Abstract</vt:lpstr>
      <vt:lpstr>Problem Statement</vt:lpstr>
      <vt:lpstr>Literature Review</vt:lpstr>
      <vt:lpstr>PowerPoint 演示文稿</vt:lpstr>
      <vt:lpstr>PowerPoint 演示文稿</vt:lpstr>
      <vt:lpstr>DATASETS :-</vt:lpstr>
      <vt:lpstr>PowerPoint 演示文稿</vt:lpstr>
      <vt:lpstr>Previous Work – Hybrid CNN–FCNN Model</vt:lpstr>
      <vt:lpstr>Present Work – Data Cleaning &amp; Preparation Pipeline</vt:lpstr>
      <vt:lpstr>Proposed Methodology</vt:lpstr>
      <vt:lpstr>Conclusion</vt:lpstr>
      <vt:lpstr>REFERANCES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Nisarga Chand</dc:creator>
  <cp:lastModifiedBy>Soumyadeep</cp:lastModifiedBy>
  <cp:revision>9</cp:revision>
  <dcterms:created xsi:type="dcterms:W3CDTF">2021-03-04T10:05:00Z</dcterms:created>
  <dcterms:modified xsi:type="dcterms:W3CDTF">2026-02-26T01:40:57Z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DE1CD89D787342C8837084CFB6FD9DDB_13</vt:lpwstr>
  </property>
  <property fmtid="{D5CDD505-2E9C-101B-9397-08002B2CF9AE}" pid="3" name="KSOProductBuildVer">
    <vt:lpwstr>1033-12.2.0.23196</vt:lpwstr>
  </property>
</Properties>
</file>